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SPACE Assistant는 '사내 지식'과 '조회용 운영 DB'를 하나의 질문 흐름으로 묶은 Q&amp;A 에이전트입니다.
[처리 흐름]
1) 사용자가 질문하면 프런트가 최근 6턴의 대화를 함께 보냅니다. 서버는 세션을 저장하지 않아(stateless) 수평 확장이 쉽습니다. 현재 질문만으로 아무것도 검색되지 않은 경우에만 직전 질문을 덧붙여 재검색해서, 평소 검색 정확도를 해치지 않으면서 후속 질문("그럼 김철수는?")을 복구합니다.
2) 검색은 하이브리드입니다. 정확 키워드(BATCH001)는 LIKE가, 표현 차이("측정 안 하고 품질 아는 법" ↔ "가상계측")는 벡터가 잡습니다. 두 결과를 RRF로 병합해 상위 20건만 프롬프트에 싣습니다.
3) LLM은 answer 또는 run_query 중 하나를 고르는 결정 루프를 돕니다. 여러 번 조회할 수 있어 '고객명 → 고객ID → 주문상태' 같은 다단계도 처리합니다.
4) 답변에는 실행된 쿼리 trace가 함께 나가고, 모든 문답은 chat_log에 남습니다(3일 보존). 이 로그로 '못 답한 질문'을 찾아 지식·쿼리를 보강하는 운영 루프를 돌립니다.
[장점 1 — 왜 단단한가]
· LLM은 SQL을 한 글자도 쓰지 못합니다. query_registry에 등록된 쿼리의 '이름'만 고르고, 사용자 입력은 바인드 변수 값으로만 들어갑니다(문자열 결합 없음). 그 위에 실행 직전 SELECT 전용 가드가 있고(단일 패스 스캐너로 리터럴·주석 경계를 판정, Oracle q-quote와 FOR UPDATE까지 차단), 마지막으로 조회 계정 자체가 읽기 전용입니다(Oracle 12c+는 GRANT READ). 한 겹이 뚫려도 다음 겹이 남습니다.
· 모든 I/O에 예산이 있습니다 — 관리 DB 30초, 조회 30초, LLM 120초, 결정 루프 180초. 요청 상한이 계산되어 프런트의 abort 시각과 맞춰져 있습니다.
· 퇴화한 LLM 응답을 걸러내는 루프 가드가 있습니다: 같은 쿼리·같은 파라미터의 반복, 미등록 이름의 반복, 잘린 셀 값을 옮겨 적은 바인드를 실행 전에 차단합니다.
· 실패해도 조용히 무너지지 않습니다. 임베딩 서버가 없으면 LIKE-only로, LLM이 죽으면 조회 결과와 지식으로 답을 조립하되 '조립된 답변'임을 화면에 표시합니다.
· 이 판정들은 오류를 남기지 않고 양방향으로 깨지기 때문에 순수 함수로 떼어내 회귀 테스트를 붙였습니다 — 현재 122건이 0.6초에 전부 통과합니다(npm test).
[장점 2 — 왜 효율적인가]
· 별도 vector DB를 두지 않았습니다. MariaDB 네이티브 VECTOR(1024)와 MHNSW 인덱스를 쓰고, 원본 테이블은 건드리지 않는 companion 구조(vec_store)입니다. 10,000건 부하 테스트에서 정확 검색과 같은 결과를 약 20ms에 냅니다(DISTANCE=cosine 명시, ef_search=400 — 기본값이면 인덱스를 못 타고 300~600ms 풀스캔).
· LIKE와 벡터를 병렬로 돌려 RRF로 병합하고 상위 20건만 프롬프트에 싣습니다(건당 약 84토큰). 쿼리가 30건을 넘을 때만 라우팅이 켜지고, 규모 판정도 왕복 1회로 끝냅니다.
· 임베딩은 MD5 비교로 변경분만 다시 계산하고(멱등), 한 요청 안에서 질문 임베딩은 promise 캐시로 1회만 계산합니다.
[장점 3 — 무엇이든 갈아 끼울 수 있다]
· LLM: .env의 LLM_PROVIDER / LLM_BASE_URL / LLM_MODEL 세 줄이면 vLLM ↔ OpenRouter ↔ 사내 게이트웨이를 오갑니다. LLM 경계는 llm.js의 decide(ctx) 함수 하나뿐이라, OpenAI 호환이 아닌 provider도 같은 시그니처의 함수를 하나 추가해 분기에 연결하면 됩니다 — agent.js는 바뀌지 않습니다. 개발용 Mock provider가 내장되어 있어 LLM 없이도 전체 흐름을 돌려볼 수 있습니다.
· 임베딩 모델: EMBEDDING_MODEL만 바꾸면 됩니다(1024차원 유지 시). 모델명이 embed_hash에 들어가 있어서, 바꾸는 순간 모든 해시가 불일치 → 다음 동기화 주기에 전체가 자동 재임베딩됩니다. 손으로 지우고 다시 넣을 일이 없습니다. EMBEDDING_URL을 바꾸면 Ollama 대신 vLLM/TEI 같은 OpenAI 호환 서버로 옮겨갑니다.
· 조회 대상 DB: target_db 테이블에 접속 정보를 INSERT하면 새 DB가 늘어납니다. 쿼리마다 query_registry.target_db_name으로 대상을 지정하므로 한 질문이 여러 DB를 오갈 수 있고, 접속 정보는 실행 시점에 조회하니 서버 재시작도 필요 없습니다. 비밀번호는 'ENV:변수명' 형식으로 환경변수를 참조합니다.
· 공통점은 하나입니다 — 확장은 코드 변경이 아니라 데이터·설정 등록입니다. 지식·쿼리도 INSERT하면 1분 내 임베딩까지 자동 반영되고, 그 사이에도 LIKE로는 즉시 검색됩니다.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42F"/>
        </a:solidFill>
      </p:bgPr>
    </p:bg>
    <p:spTree>
      <p:nvGrpSpPr>
        <p:cNvPr id="1" name=""/>
        <p:cNvGrpSpPr/>
        <p:nvPr/>
      </p:nvGrpSpPr>
      <p:grpSpPr>
        <a:xfrm>
          <a:off x="0" y="0"/>
          <a:ext cx="0" cy="0"/>
          <a:chOff x="0" y="0"/>
          <a:chExt cx="0" cy="0"/>
        </a:xfrm>
      </p:grpSpPr>
      <p:sp>
        <p:nvSpPr>
          <p:cNvPr id="2" name="Text 0"/>
          <p:cNvSpPr txBox="1"/>
          <p:nvPr/>
        </p:nvSpPr>
        <p:spPr>
          <a:xfrm>
            <a:off x="502920" y="219456"/>
            <a:ext cx="7863840" cy="4572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SPACE Assistant 아키텍처</a:t>
            </a:r>
            <a:endParaRPr lang="en-US" sz="3200" dirty="0"/>
          </a:p>
        </p:txBody>
      </p:sp>
      <p:sp>
        <p:nvSpPr>
          <p:cNvPr id="3" name="Text 1"/>
          <p:cNvSpPr txBox="1"/>
          <p:nvPr/>
        </p:nvSpPr>
        <p:spPr>
          <a:xfrm>
            <a:off x="502920" y="667512"/>
            <a:ext cx="7863840" cy="237744"/>
          </a:xfrm>
          <a:prstGeom prst="rect">
            <a:avLst/>
          </a:prstGeom>
          <a:noFill/>
          <a:ln/>
        </p:spPr>
        <p:txBody>
          <a:bodyPr wrap="square" lIns="0" tIns="0" rIns="0" bIns="0" rtlCol="0" anchor="ctr"/>
          <a:lstStyle/>
          <a:p>
            <a:pPr indent="0" marL="0">
              <a:buNone/>
            </a:pPr>
            <a:r>
              <a:rPr lang="en-US" sz="1250" dirty="0">
                <a:solidFill>
                  <a:srgbClr val="A3ADD6"/>
                </a:solidFill>
                <a:latin typeface="Calibri" pitchFamily="34" charset="0"/>
                <a:ea typeface="Calibri" pitchFamily="34" charset="-122"/>
                <a:cs typeface="Calibri" pitchFamily="34" charset="-120"/>
              </a:rPr>
              <a:t>사내 지식과 조회용 DB(Oracle)를 결합해 답하는 지식관리 · Q&amp;A LLM Agent</a:t>
            </a:r>
            <a:endParaRPr lang="en-US" sz="1250" dirty="0"/>
          </a:p>
        </p:txBody>
      </p:sp>
      <p:sp>
        <p:nvSpPr>
          <p:cNvPr id="4" name="Shape 2"/>
          <p:cNvSpPr/>
          <p:nvPr/>
        </p:nvSpPr>
        <p:spPr>
          <a:xfrm>
            <a:off x="6931152" y="347472"/>
            <a:ext cx="1481328" cy="329184"/>
          </a:xfrm>
          <a:prstGeom prst="roundRect">
            <a:avLst>
              <a:gd name="adj" fmla="val 50000"/>
            </a:avLst>
          </a:prstGeom>
          <a:solidFill>
            <a:srgbClr val="252A5E"/>
          </a:solidFill>
          <a:ln w="9525">
            <a:solidFill>
              <a:srgbClr val="3A3F80"/>
            </a:solidFill>
            <a:prstDash val="solid"/>
          </a:ln>
        </p:spPr>
      </p:sp>
      <p:sp>
        <p:nvSpPr>
          <p:cNvPr id="5" name="Text 3"/>
          <p:cNvSpPr txBox="1"/>
          <p:nvPr/>
        </p:nvSpPr>
        <p:spPr>
          <a:xfrm>
            <a:off x="6931152" y="347472"/>
            <a:ext cx="1481328" cy="329184"/>
          </a:xfrm>
          <a:prstGeom prst="rect">
            <a:avLst/>
          </a:prstGeom>
          <a:noFill/>
          <a:ln/>
        </p:spPr>
        <p:txBody>
          <a:bodyPr wrap="square" lIns="0" tIns="0" rIns="0" bIns="0" rtlCol="0" anchor="ctr"/>
          <a:lstStyle/>
          <a:p>
            <a:pPr algn="ctr" indent="0" marL="0">
              <a:buNone/>
            </a:pPr>
            <a:r>
              <a:rPr lang="en-US" sz="950" dirty="0">
                <a:solidFill>
                  <a:srgbClr val="C7D2FE"/>
                </a:solidFill>
                <a:latin typeface="Calibri" pitchFamily="34" charset="0"/>
                <a:ea typeface="Calibri" pitchFamily="34" charset="-122"/>
                <a:cs typeface="Calibri" pitchFamily="34" charset="-120"/>
              </a:rPr>
              <a:t>Node · Express</a:t>
            </a:r>
            <a:endParaRPr lang="en-US" sz="950" dirty="0"/>
          </a:p>
        </p:txBody>
      </p:sp>
      <p:sp>
        <p:nvSpPr>
          <p:cNvPr id="6" name="Shape 4"/>
          <p:cNvSpPr/>
          <p:nvPr/>
        </p:nvSpPr>
        <p:spPr>
          <a:xfrm>
            <a:off x="8522208" y="347472"/>
            <a:ext cx="1481328" cy="329184"/>
          </a:xfrm>
          <a:prstGeom prst="roundRect">
            <a:avLst>
              <a:gd name="adj" fmla="val 50000"/>
            </a:avLst>
          </a:prstGeom>
          <a:solidFill>
            <a:srgbClr val="252A5E"/>
          </a:solidFill>
          <a:ln w="9525">
            <a:solidFill>
              <a:srgbClr val="3A3F80"/>
            </a:solidFill>
            <a:prstDash val="solid"/>
          </a:ln>
        </p:spPr>
      </p:sp>
      <p:sp>
        <p:nvSpPr>
          <p:cNvPr id="7" name="Text 5"/>
          <p:cNvSpPr txBox="1"/>
          <p:nvPr/>
        </p:nvSpPr>
        <p:spPr>
          <a:xfrm>
            <a:off x="8522208" y="347472"/>
            <a:ext cx="1481328" cy="329184"/>
          </a:xfrm>
          <a:prstGeom prst="rect">
            <a:avLst/>
          </a:prstGeom>
          <a:noFill/>
          <a:ln/>
        </p:spPr>
        <p:txBody>
          <a:bodyPr wrap="square" lIns="0" tIns="0" rIns="0" bIns="0" rtlCol="0" anchor="ctr"/>
          <a:lstStyle/>
          <a:p>
            <a:pPr algn="ctr" indent="0" marL="0">
              <a:buNone/>
            </a:pPr>
            <a:r>
              <a:rPr lang="en-US" sz="950" dirty="0">
                <a:solidFill>
                  <a:srgbClr val="C7D2FE"/>
                </a:solidFill>
                <a:latin typeface="Calibri" pitchFamily="34" charset="0"/>
                <a:ea typeface="Calibri" pitchFamily="34" charset="-122"/>
                <a:cs typeface="Calibri" pitchFamily="34" charset="-120"/>
              </a:rPr>
              <a:t>React (Vite)</a:t>
            </a:r>
            <a:endParaRPr lang="en-US" sz="950" dirty="0"/>
          </a:p>
        </p:txBody>
      </p:sp>
      <p:sp>
        <p:nvSpPr>
          <p:cNvPr id="8" name="Shape 6"/>
          <p:cNvSpPr/>
          <p:nvPr/>
        </p:nvSpPr>
        <p:spPr>
          <a:xfrm>
            <a:off x="10113264" y="347472"/>
            <a:ext cx="1481328" cy="329184"/>
          </a:xfrm>
          <a:prstGeom prst="roundRect">
            <a:avLst>
              <a:gd name="adj" fmla="val 50000"/>
            </a:avLst>
          </a:prstGeom>
          <a:solidFill>
            <a:srgbClr val="252A5E"/>
          </a:solidFill>
          <a:ln w="9525">
            <a:solidFill>
              <a:srgbClr val="3A3F80"/>
            </a:solidFill>
            <a:prstDash val="solid"/>
          </a:ln>
        </p:spPr>
      </p:sp>
      <p:sp>
        <p:nvSpPr>
          <p:cNvPr id="9" name="Text 7"/>
          <p:cNvSpPr txBox="1"/>
          <p:nvPr/>
        </p:nvSpPr>
        <p:spPr>
          <a:xfrm>
            <a:off x="10113264" y="347472"/>
            <a:ext cx="1481328" cy="329184"/>
          </a:xfrm>
          <a:prstGeom prst="rect">
            <a:avLst/>
          </a:prstGeom>
          <a:noFill/>
          <a:ln/>
        </p:spPr>
        <p:txBody>
          <a:bodyPr wrap="square" lIns="0" tIns="0" rIns="0" bIns="0" rtlCol="0" anchor="ctr"/>
          <a:lstStyle/>
          <a:p>
            <a:pPr algn="ctr" indent="0" marL="0">
              <a:buNone/>
            </a:pPr>
            <a:r>
              <a:rPr lang="en-US" sz="950" dirty="0">
                <a:solidFill>
                  <a:srgbClr val="C7D2FE"/>
                </a:solidFill>
                <a:latin typeface="Calibri" pitchFamily="34" charset="0"/>
                <a:ea typeface="Calibri" pitchFamily="34" charset="-122"/>
                <a:cs typeface="Calibri" pitchFamily="34" charset="-120"/>
              </a:rPr>
              <a:t>MariaDB + Oracle</a:t>
            </a:r>
            <a:endParaRPr lang="en-US" sz="950" dirty="0"/>
          </a:p>
        </p:txBody>
      </p:sp>
      <p:sp>
        <p:nvSpPr>
          <p:cNvPr id="10" name="Shape 8"/>
          <p:cNvSpPr/>
          <p:nvPr/>
        </p:nvSpPr>
        <p:spPr>
          <a:xfrm>
            <a:off x="502920" y="1042416"/>
            <a:ext cx="91440" cy="91440"/>
          </a:xfrm>
          <a:prstGeom prst="ellipse">
            <a:avLst/>
          </a:prstGeom>
          <a:solidFill>
            <a:srgbClr val="8B7CF6"/>
          </a:solidFill>
          <a:ln/>
        </p:spPr>
      </p:sp>
      <p:sp>
        <p:nvSpPr>
          <p:cNvPr id="11" name="Text 9"/>
          <p:cNvSpPr txBox="1"/>
          <p:nvPr/>
        </p:nvSpPr>
        <p:spPr>
          <a:xfrm>
            <a:off x="685800" y="978408"/>
            <a:ext cx="7315200" cy="219456"/>
          </a:xfrm>
          <a:prstGeom prst="rect">
            <a:avLst/>
          </a:prstGeom>
          <a:noFill/>
          <a:ln/>
        </p:spPr>
        <p:txBody>
          <a:bodyPr wrap="square" lIns="0" tIns="0" rIns="0" bIns="0" rtlCol="0" anchor="ctr"/>
          <a:lstStyle/>
          <a:p>
            <a:pPr indent="0" marL="0">
              <a:buNone/>
            </a:pPr>
            <a:r>
              <a:rPr lang="en-US" sz="1100" b="1" spc="150" kern="0" dirty="0">
                <a:solidFill>
                  <a:srgbClr val="8B7CF6"/>
                </a:solidFill>
                <a:latin typeface="Calibri" pitchFamily="34" charset="0"/>
                <a:ea typeface="Calibri" pitchFamily="34" charset="-122"/>
                <a:cs typeface="Calibri" pitchFamily="34" charset="-120"/>
              </a:rPr>
              <a:t>처리 흐름  ·  요청 1건</a:t>
            </a:r>
            <a:endParaRPr lang="en-US" sz="1100" dirty="0"/>
          </a:p>
        </p:txBody>
      </p:sp>
      <p:sp>
        <p:nvSpPr>
          <p:cNvPr id="12" name="Shape 10"/>
          <p:cNvSpPr/>
          <p:nvPr/>
        </p:nvSpPr>
        <p:spPr>
          <a:xfrm>
            <a:off x="502920" y="1207008"/>
            <a:ext cx="2560320" cy="1243584"/>
          </a:xfrm>
          <a:prstGeom prst="roundRect">
            <a:avLst>
              <a:gd name="adj" fmla="val 8824"/>
            </a:avLst>
          </a:prstGeom>
          <a:solidFill>
            <a:srgbClr val="1E2148"/>
          </a:solidFill>
          <a:ln w="9525">
            <a:solidFill>
              <a:srgbClr val="343A76"/>
            </a:solidFill>
            <a:prstDash val="solid"/>
          </a:ln>
          <a:effectLst>
            <a:outerShdw sx="100000" sy="100000" kx="0" ky="0" algn="bl" rotWithShape="0" blurRad="127000" dist="25400" dir="5400000">
              <a:srgbClr val="000000">
                <a:alpha val="28000"/>
              </a:srgbClr>
            </a:outerShdw>
          </a:effectLst>
        </p:spPr>
      </p:sp>
      <p:sp>
        <p:nvSpPr>
          <p:cNvPr id="13" name="Shape 11"/>
          <p:cNvSpPr/>
          <p:nvPr/>
        </p:nvSpPr>
        <p:spPr>
          <a:xfrm>
            <a:off x="685800" y="1362456"/>
            <a:ext cx="292608" cy="292608"/>
          </a:xfrm>
          <a:prstGeom prst="ellipse">
            <a:avLst/>
          </a:prstGeom>
          <a:solidFill>
            <a:srgbClr val="8B7CF6"/>
          </a:solidFill>
          <a:ln/>
        </p:spPr>
      </p:sp>
      <p:sp>
        <p:nvSpPr>
          <p:cNvPr id="14" name="Text 12"/>
          <p:cNvSpPr txBox="1"/>
          <p:nvPr/>
        </p:nvSpPr>
        <p:spPr>
          <a:xfrm>
            <a:off x="685800" y="1362456"/>
            <a:ext cx="292608" cy="292608"/>
          </a:xfrm>
          <a:prstGeom prst="rect">
            <a:avLst/>
          </a:prstGeom>
          <a:noFill/>
          <a:ln/>
        </p:spPr>
        <p:txBody>
          <a:bodyPr wrap="square" lIns="0" tIns="0" rIns="0" bIns="0" rtlCol="0" anchor="ctr"/>
          <a:lstStyle/>
          <a:p>
            <a:pPr algn="ctr" indent="0" marL="0">
              <a:buNone/>
            </a:pPr>
            <a:r>
              <a:rPr lang="en-US" sz="1250" b="1" dirty="0">
                <a:solidFill>
                  <a:srgbClr val="16183A"/>
                </a:solidFill>
                <a:latin typeface="Calibri" pitchFamily="34" charset="0"/>
                <a:ea typeface="Calibri" pitchFamily="34" charset="-122"/>
                <a:cs typeface="Calibri" pitchFamily="34" charset="-120"/>
              </a:rPr>
              <a:t>1</a:t>
            </a:r>
            <a:endParaRPr lang="en-US" sz="1250" dirty="0"/>
          </a:p>
        </p:txBody>
      </p:sp>
      <p:sp>
        <p:nvSpPr>
          <p:cNvPr id="15" name="Text 13"/>
          <p:cNvSpPr txBox="1"/>
          <p:nvPr/>
        </p:nvSpPr>
        <p:spPr>
          <a:xfrm>
            <a:off x="1051560" y="1362456"/>
            <a:ext cx="18288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질문 + 최근 대화</a:t>
            </a:r>
            <a:endParaRPr lang="en-US" sz="1350" dirty="0"/>
          </a:p>
        </p:txBody>
      </p:sp>
      <p:sp>
        <p:nvSpPr>
          <p:cNvPr id="16" name="Text 14"/>
          <p:cNvSpPr txBox="1"/>
          <p:nvPr/>
        </p:nvSpPr>
        <p:spPr>
          <a:xfrm>
            <a:off x="685800" y="1737360"/>
            <a:ext cx="2194560" cy="566928"/>
          </a:xfrm>
          <a:prstGeom prst="rect">
            <a:avLst/>
          </a:prstGeom>
          <a:noFill/>
          <a:ln/>
        </p:spPr>
        <p:txBody>
          <a:bodyPr wrap="square" lIns="0" tIns="0" rIns="0" bIns="0" rtlCol="0" anchor="t"/>
          <a:lstStyle/>
          <a:p>
            <a:pPr indent="0" marL="0">
              <a:lnSpc>
                <a:spcPct val="122000"/>
              </a:lnSpc>
              <a:buNone/>
            </a:pPr>
            <a:r>
              <a:rPr lang="en-US" sz="1000" dirty="0">
                <a:solidFill>
                  <a:srgbClr val="A3ADD6"/>
                </a:solidFill>
                <a:latin typeface="Calibri" pitchFamily="34" charset="0"/>
                <a:ea typeface="Calibri" pitchFamily="34" charset="-122"/>
                <a:cs typeface="Calibri" pitchFamily="34" charset="-120"/>
              </a:rPr>
              <a:t>React 채팅 UI. 서버는 세션을 저장하지 않고, 클라이언트가 최근 6턴을 함께 보낸다.</a:t>
            </a:r>
            <a:endParaRPr lang="en-US" sz="1000" dirty="0"/>
          </a:p>
        </p:txBody>
      </p:sp>
      <p:sp>
        <p:nvSpPr>
          <p:cNvPr id="17" name="Shape 15"/>
          <p:cNvSpPr/>
          <p:nvPr/>
        </p:nvSpPr>
        <p:spPr>
          <a:xfrm rot="5400000">
            <a:off x="3140964" y="1737360"/>
            <a:ext cx="137160" cy="182880"/>
          </a:xfrm>
          <a:prstGeom prst="triangle">
            <a:avLst/>
          </a:prstGeom>
          <a:solidFill>
            <a:srgbClr val="8B7CF6"/>
          </a:solidFill>
          <a:ln/>
        </p:spPr>
      </p:sp>
      <p:sp>
        <p:nvSpPr>
          <p:cNvPr id="18" name="Shape 16"/>
          <p:cNvSpPr/>
          <p:nvPr/>
        </p:nvSpPr>
        <p:spPr>
          <a:xfrm>
            <a:off x="3346704" y="1207008"/>
            <a:ext cx="2560320" cy="1243584"/>
          </a:xfrm>
          <a:prstGeom prst="roundRect">
            <a:avLst>
              <a:gd name="adj" fmla="val 8824"/>
            </a:avLst>
          </a:prstGeom>
          <a:solidFill>
            <a:srgbClr val="1E2148"/>
          </a:solidFill>
          <a:ln w="9525">
            <a:solidFill>
              <a:srgbClr val="343A76"/>
            </a:solidFill>
            <a:prstDash val="solid"/>
          </a:ln>
          <a:effectLst>
            <a:outerShdw sx="100000" sy="100000" kx="0" ky="0" algn="bl" rotWithShape="0" blurRad="127000" dist="25400" dir="5400000">
              <a:srgbClr val="000000">
                <a:alpha val="28000"/>
              </a:srgbClr>
            </a:outerShdw>
          </a:effectLst>
        </p:spPr>
      </p:sp>
      <p:sp>
        <p:nvSpPr>
          <p:cNvPr id="19" name="Shape 17"/>
          <p:cNvSpPr/>
          <p:nvPr/>
        </p:nvSpPr>
        <p:spPr>
          <a:xfrm>
            <a:off x="3529584" y="1362456"/>
            <a:ext cx="292608" cy="292608"/>
          </a:xfrm>
          <a:prstGeom prst="ellipse">
            <a:avLst/>
          </a:prstGeom>
          <a:solidFill>
            <a:srgbClr val="8B7CF6"/>
          </a:solidFill>
          <a:ln/>
        </p:spPr>
      </p:sp>
      <p:sp>
        <p:nvSpPr>
          <p:cNvPr id="20" name="Text 18"/>
          <p:cNvSpPr txBox="1"/>
          <p:nvPr/>
        </p:nvSpPr>
        <p:spPr>
          <a:xfrm>
            <a:off x="3529584" y="1362456"/>
            <a:ext cx="292608" cy="292608"/>
          </a:xfrm>
          <a:prstGeom prst="rect">
            <a:avLst/>
          </a:prstGeom>
          <a:noFill/>
          <a:ln/>
        </p:spPr>
        <p:txBody>
          <a:bodyPr wrap="square" lIns="0" tIns="0" rIns="0" bIns="0" rtlCol="0" anchor="ctr"/>
          <a:lstStyle/>
          <a:p>
            <a:pPr algn="ctr" indent="0" marL="0">
              <a:buNone/>
            </a:pPr>
            <a:r>
              <a:rPr lang="en-US" sz="1250" b="1" dirty="0">
                <a:solidFill>
                  <a:srgbClr val="16183A"/>
                </a:solidFill>
                <a:latin typeface="Calibri" pitchFamily="34" charset="0"/>
                <a:ea typeface="Calibri" pitchFamily="34" charset="-122"/>
                <a:cs typeface="Calibri" pitchFamily="34" charset="-120"/>
              </a:rPr>
              <a:t>2</a:t>
            </a:r>
            <a:endParaRPr lang="en-US" sz="1250" dirty="0"/>
          </a:p>
        </p:txBody>
      </p:sp>
      <p:sp>
        <p:nvSpPr>
          <p:cNvPr id="21" name="Text 19"/>
          <p:cNvSpPr txBox="1"/>
          <p:nvPr/>
        </p:nvSpPr>
        <p:spPr>
          <a:xfrm>
            <a:off x="3895344" y="1362456"/>
            <a:ext cx="18288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하이브리드 검색</a:t>
            </a:r>
            <a:endParaRPr lang="en-US" sz="1350" dirty="0"/>
          </a:p>
        </p:txBody>
      </p:sp>
      <p:sp>
        <p:nvSpPr>
          <p:cNvPr id="22" name="Text 20"/>
          <p:cNvSpPr txBox="1"/>
          <p:nvPr/>
        </p:nvSpPr>
        <p:spPr>
          <a:xfrm>
            <a:off x="3529584" y="1737360"/>
            <a:ext cx="2194560" cy="566928"/>
          </a:xfrm>
          <a:prstGeom prst="rect">
            <a:avLst/>
          </a:prstGeom>
          <a:noFill/>
          <a:ln/>
        </p:spPr>
        <p:txBody>
          <a:bodyPr wrap="square" lIns="0" tIns="0" rIns="0" bIns="0" rtlCol="0" anchor="t"/>
          <a:lstStyle/>
          <a:p>
            <a:pPr indent="0" marL="0">
              <a:lnSpc>
                <a:spcPct val="122000"/>
              </a:lnSpc>
              <a:buNone/>
            </a:pPr>
            <a:r>
              <a:rPr lang="en-US" sz="1000" dirty="0">
                <a:solidFill>
                  <a:srgbClr val="A3ADD6"/>
                </a:solidFill>
                <a:latin typeface="Calibri" pitchFamily="34" charset="0"/>
                <a:ea typeface="Calibri" pitchFamily="34" charset="-122"/>
                <a:cs typeface="Calibri" pitchFamily="34" charset="-120"/>
              </a:rPr>
              <a:t>지식·처리방법·쿼리를 LIKE와 벡터(bge-m3)로 병렬 검색해 RRF로 병합, 상위 20건.</a:t>
            </a:r>
            <a:endParaRPr lang="en-US" sz="1000" dirty="0"/>
          </a:p>
        </p:txBody>
      </p:sp>
      <p:sp>
        <p:nvSpPr>
          <p:cNvPr id="23" name="Shape 21"/>
          <p:cNvSpPr/>
          <p:nvPr/>
        </p:nvSpPr>
        <p:spPr>
          <a:xfrm rot="5400000">
            <a:off x="5984748" y="1737360"/>
            <a:ext cx="137160" cy="182880"/>
          </a:xfrm>
          <a:prstGeom prst="triangle">
            <a:avLst/>
          </a:prstGeom>
          <a:solidFill>
            <a:srgbClr val="8B7CF6"/>
          </a:solidFill>
          <a:ln/>
        </p:spPr>
      </p:sp>
      <p:sp>
        <p:nvSpPr>
          <p:cNvPr id="24" name="Shape 22"/>
          <p:cNvSpPr/>
          <p:nvPr/>
        </p:nvSpPr>
        <p:spPr>
          <a:xfrm>
            <a:off x="6190488" y="1207008"/>
            <a:ext cx="2560320" cy="1243584"/>
          </a:xfrm>
          <a:prstGeom prst="roundRect">
            <a:avLst>
              <a:gd name="adj" fmla="val 8824"/>
            </a:avLst>
          </a:prstGeom>
          <a:solidFill>
            <a:srgbClr val="1E2148"/>
          </a:solidFill>
          <a:ln w="9525">
            <a:solidFill>
              <a:srgbClr val="343A76"/>
            </a:solidFill>
            <a:prstDash val="solid"/>
          </a:ln>
          <a:effectLst>
            <a:outerShdw sx="100000" sy="100000" kx="0" ky="0" algn="bl" rotWithShape="0" blurRad="127000" dist="25400" dir="5400000">
              <a:srgbClr val="000000">
                <a:alpha val="28000"/>
              </a:srgbClr>
            </a:outerShdw>
          </a:effectLst>
        </p:spPr>
      </p:sp>
      <p:sp>
        <p:nvSpPr>
          <p:cNvPr id="25" name="Shape 23"/>
          <p:cNvSpPr/>
          <p:nvPr/>
        </p:nvSpPr>
        <p:spPr>
          <a:xfrm>
            <a:off x="6373368" y="1362456"/>
            <a:ext cx="292608" cy="292608"/>
          </a:xfrm>
          <a:prstGeom prst="ellipse">
            <a:avLst/>
          </a:prstGeom>
          <a:solidFill>
            <a:srgbClr val="8B7CF6"/>
          </a:solidFill>
          <a:ln/>
        </p:spPr>
      </p:sp>
      <p:sp>
        <p:nvSpPr>
          <p:cNvPr id="26" name="Text 24"/>
          <p:cNvSpPr txBox="1"/>
          <p:nvPr/>
        </p:nvSpPr>
        <p:spPr>
          <a:xfrm>
            <a:off x="6373368" y="1362456"/>
            <a:ext cx="292608" cy="292608"/>
          </a:xfrm>
          <a:prstGeom prst="rect">
            <a:avLst/>
          </a:prstGeom>
          <a:noFill/>
          <a:ln/>
        </p:spPr>
        <p:txBody>
          <a:bodyPr wrap="square" lIns="0" tIns="0" rIns="0" bIns="0" rtlCol="0" anchor="ctr"/>
          <a:lstStyle/>
          <a:p>
            <a:pPr algn="ctr" indent="0" marL="0">
              <a:buNone/>
            </a:pPr>
            <a:r>
              <a:rPr lang="en-US" sz="1250" b="1" dirty="0">
                <a:solidFill>
                  <a:srgbClr val="16183A"/>
                </a:solidFill>
                <a:latin typeface="Calibri" pitchFamily="34" charset="0"/>
                <a:ea typeface="Calibri" pitchFamily="34" charset="-122"/>
                <a:cs typeface="Calibri" pitchFamily="34" charset="-120"/>
              </a:rPr>
              <a:t>3</a:t>
            </a:r>
            <a:endParaRPr lang="en-US" sz="1250" dirty="0"/>
          </a:p>
        </p:txBody>
      </p:sp>
      <p:sp>
        <p:nvSpPr>
          <p:cNvPr id="27" name="Text 25"/>
          <p:cNvSpPr txBox="1"/>
          <p:nvPr/>
        </p:nvSpPr>
        <p:spPr>
          <a:xfrm>
            <a:off x="6739128" y="1362456"/>
            <a:ext cx="18288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LLM 결정 루프</a:t>
            </a:r>
            <a:endParaRPr lang="en-US" sz="1350" dirty="0"/>
          </a:p>
        </p:txBody>
      </p:sp>
      <p:sp>
        <p:nvSpPr>
          <p:cNvPr id="28" name="Text 26"/>
          <p:cNvSpPr txBox="1"/>
          <p:nvPr/>
        </p:nvSpPr>
        <p:spPr>
          <a:xfrm>
            <a:off x="6373368" y="1737360"/>
            <a:ext cx="2194560" cy="566928"/>
          </a:xfrm>
          <a:prstGeom prst="rect">
            <a:avLst/>
          </a:prstGeom>
          <a:noFill/>
          <a:ln/>
        </p:spPr>
        <p:txBody>
          <a:bodyPr wrap="square" lIns="0" tIns="0" rIns="0" bIns="0" rtlCol="0" anchor="t"/>
          <a:lstStyle/>
          <a:p>
            <a:pPr indent="0" marL="0">
              <a:lnSpc>
                <a:spcPct val="122000"/>
              </a:lnSpc>
              <a:buNone/>
            </a:pPr>
            <a:r>
              <a:rPr lang="en-US" sz="1000" dirty="0">
                <a:solidFill>
                  <a:srgbClr val="A3ADD6"/>
                </a:solidFill>
                <a:latin typeface="Calibri" pitchFamily="34" charset="0"/>
                <a:ea typeface="Calibri" pitchFamily="34" charset="-122"/>
                <a:cs typeface="Calibri" pitchFamily="34" charset="-120"/>
              </a:rPr>
              <a:t>답변 가능하면 answer, 아니면 run_query 반복(최대 5스텝). 등록된 쿼리 이름만 고른다.</a:t>
            </a:r>
            <a:endParaRPr lang="en-US" sz="1000" dirty="0"/>
          </a:p>
        </p:txBody>
      </p:sp>
      <p:sp>
        <p:nvSpPr>
          <p:cNvPr id="29" name="Shape 27"/>
          <p:cNvSpPr/>
          <p:nvPr/>
        </p:nvSpPr>
        <p:spPr>
          <a:xfrm rot="5400000">
            <a:off x="8828532" y="1737360"/>
            <a:ext cx="137160" cy="182880"/>
          </a:xfrm>
          <a:prstGeom prst="triangle">
            <a:avLst/>
          </a:prstGeom>
          <a:solidFill>
            <a:srgbClr val="8B7CF6"/>
          </a:solidFill>
          <a:ln/>
        </p:spPr>
      </p:sp>
      <p:sp>
        <p:nvSpPr>
          <p:cNvPr id="30" name="Shape 28"/>
          <p:cNvSpPr/>
          <p:nvPr/>
        </p:nvSpPr>
        <p:spPr>
          <a:xfrm>
            <a:off x="9034272" y="1207008"/>
            <a:ext cx="2560320" cy="1243584"/>
          </a:xfrm>
          <a:prstGeom prst="roundRect">
            <a:avLst>
              <a:gd name="adj" fmla="val 8824"/>
            </a:avLst>
          </a:prstGeom>
          <a:solidFill>
            <a:srgbClr val="1E2148"/>
          </a:solidFill>
          <a:ln w="9525">
            <a:solidFill>
              <a:srgbClr val="343A76"/>
            </a:solidFill>
            <a:prstDash val="solid"/>
          </a:ln>
          <a:effectLst>
            <a:outerShdw sx="100000" sy="100000" kx="0" ky="0" algn="bl" rotWithShape="0" blurRad="127000" dist="25400" dir="5400000">
              <a:srgbClr val="000000">
                <a:alpha val="28000"/>
              </a:srgbClr>
            </a:outerShdw>
          </a:effectLst>
        </p:spPr>
      </p:sp>
      <p:sp>
        <p:nvSpPr>
          <p:cNvPr id="31" name="Shape 29"/>
          <p:cNvSpPr/>
          <p:nvPr/>
        </p:nvSpPr>
        <p:spPr>
          <a:xfrm>
            <a:off x="9217152" y="1362456"/>
            <a:ext cx="292608" cy="292608"/>
          </a:xfrm>
          <a:prstGeom prst="ellipse">
            <a:avLst/>
          </a:prstGeom>
          <a:solidFill>
            <a:srgbClr val="8B7CF6"/>
          </a:solidFill>
          <a:ln/>
        </p:spPr>
      </p:sp>
      <p:sp>
        <p:nvSpPr>
          <p:cNvPr id="32" name="Text 30"/>
          <p:cNvSpPr txBox="1"/>
          <p:nvPr/>
        </p:nvSpPr>
        <p:spPr>
          <a:xfrm>
            <a:off x="9217152" y="1362456"/>
            <a:ext cx="292608" cy="292608"/>
          </a:xfrm>
          <a:prstGeom prst="rect">
            <a:avLst/>
          </a:prstGeom>
          <a:noFill/>
          <a:ln/>
        </p:spPr>
        <p:txBody>
          <a:bodyPr wrap="square" lIns="0" tIns="0" rIns="0" bIns="0" rtlCol="0" anchor="ctr"/>
          <a:lstStyle/>
          <a:p>
            <a:pPr algn="ctr" indent="0" marL="0">
              <a:buNone/>
            </a:pPr>
            <a:r>
              <a:rPr lang="en-US" sz="1250" b="1" dirty="0">
                <a:solidFill>
                  <a:srgbClr val="16183A"/>
                </a:solidFill>
                <a:latin typeface="Calibri" pitchFamily="34" charset="0"/>
                <a:ea typeface="Calibri" pitchFamily="34" charset="-122"/>
                <a:cs typeface="Calibri" pitchFamily="34" charset="-120"/>
              </a:rPr>
              <a:t>4</a:t>
            </a:r>
            <a:endParaRPr lang="en-US" sz="1250" dirty="0"/>
          </a:p>
        </p:txBody>
      </p:sp>
      <p:sp>
        <p:nvSpPr>
          <p:cNvPr id="33" name="Text 31"/>
          <p:cNvSpPr txBox="1"/>
          <p:nvPr/>
        </p:nvSpPr>
        <p:spPr>
          <a:xfrm>
            <a:off x="9582912" y="1362456"/>
            <a:ext cx="18288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답변 + 실행 trace</a:t>
            </a:r>
            <a:endParaRPr lang="en-US" sz="1350" dirty="0"/>
          </a:p>
        </p:txBody>
      </p:sp>
      <p:sp>
        <p:nvSpPr>
          <p:cNvPr id="34" name="Text 32"/>
          <p:cNvSpPr txBox="1"/>
          <p:nvPr/>
        </p:nvSpPr>
        <p:spPr>
          <a:xfrm>
            <a:off x="9217152" y="1737360"/>
            <a:ext cx="2194560" cy="566928"/>
          </a:xfrm>
          <a:prstGeom prst="rect">
            <a:avLst/>
          </a:prstGeom>
          <a:noFill/>
          <a:ln/>
        </p:spPr>
        <p:txBody>
          <a:bodyPr wrap="square" lIns="0" tIns="0" rIns="0" bIns="0" rtlCol="0" anchor="t"/>
          <a:lstStyle/>
          <a:p>
            <a:pPr indent="0" marL="0">
              <a:lnSpc>
                <a:spcPct val="122000"/>
              </a:lnSpc>
              <a:buNone/>
            </a:pPr>
            <a:r>
              <a:rPr lang="en-US" sz="1000" dirty="0">
                <a:solidFill>
                  <a:srgbClr val="A3ADD6"/>
                </a:solidFill>
                <a:latin typeface="Calibri" pitchFamily="34" charset="0"/>
                <a:ea typeface="Calibri" pitchFamily="34" charset="-122"/>
                <a:cs typeface="Calibri" pitchFamily="34" charset="-120"/>
              </a:rPr>
              <a:t>markdown 답변과 쿼리 이력을 함께 반환. 모든 문답은 chat_log에 남는다(3일 보존).</a:t>
            </a:r>
            <a:endParaRPr lang="en-US" sz="1000" dirty="0"/>
          </a:p>
        </p:txBody>
      </p:sp>
      <p:sp>
        <p:nvSpPr>
          <p:cNvPr id="35" name="Shape 33"/>
          <p:cNvSpPr/>
          <p:nvPr/>
        </p:nvSpPr>
        <p:spPr>
          <a:xfrm>
            <a:off x="502920" y="2642616"/>
            <a:ext cx="91440" cy="91440"/>
          </a:xfrm>
          <a:prstGeom prst="ellipse">
            <a:avLst/>
          </a:prstGeom>
          <a:solidFill>
            <a:srgbClr val="8B7CF6"/>
          </a:solidFill>
          <a:ln/>
        </p:spPr>
      </p:sp>
      <p:sp>
        <p:nvSpPr>
          <p:cNvPr id="36" name="Text 34"/>
          <p:cNvSpPr txBox="1"/>
          <p:nvPr/>
        </p:nvSpPr>
        <p:spPr>
          <a:xfrm>
            <a:off x="685800" y="2578608"/>
            <a:ext cx="7315200" cy="219456"/>
          </a:xfrm>
          <a:prstGeom prst="rect">
            <a:avLst/>
          </a:prstGeom>
          <a:noFill/>
          <a:ln/>
        </p:spPr>
        <p:txBody>
          <a:bodyPr wrap="square" lIns="0" tIns="0" rIns="0" bIns="0" rtlCol="0" anchor="ctr"/>
          <a:lstStyle/>
          <a:p>
            <a:pPr indent="0" marL="0">
              <a:buNone/>
            </a:pPr>
            <a:r>
              <a:rPr lang="en-US" sz="1100" b="1" spc="150" kern="0" dirty="0">
                <a:solidFill>
                  <a:srgbClr val="8B7CF6"/>
                </a:solidFill>
                <a:latin typeface="Calibri" pitchFamily="34" charset="0"/>
                <a:ea typeface="Calibri" pitchFamily="34" charset="-122"/>
                <a:cs typeface="Calibri" pitchFamily="34" charset="-120"/>
              </a:rPr>
              <a:t>구성 요소  ·  전부 설정과 데이터로 바뀐다</a:t>
            </a:r>
            <a:endParaRPr lang="en-US" sz="1100" dirty="0"/>
          </a:p>
        </p:txBody>
      </p:sp>
      <p:sp>
        <p:nvSpPr>
          <p:cNvPr id="37" name="Shape 35"/>
          <p:cNvSpPr/>
          <p:nvPr/>
        </p:nvSpPr>
        <p:spPr>
          <a:xfrm>
            <a:off x="502920" y="2807208"/>
            <a:ext cx="3508553" cy="914400"/>
          </a:xfrm>
          <a:prstGeom prst="roundRect">
            <a:avLst>
              <a:gd name="adj" fmla="val 10000"/>
            </a:avLst>
          </a:prstGeom>
          <a:solidFill>
            <a:srgbClr val="252A5E"/>
          </a:solidFill>
          <a:ln w="9525">
            <a:solidFill>
              <a:srgbClr val="3A3F80"/>
            </a:solidFill>
            <a:prstDash val="solid"/>
          </a:ln>
        </p:spPr>
      </p:sp>
      <p:sp>
        <p:nvSpPr>
          <p:cNvPr id="38" name="Text 36"/>
          <p:cNvSpPr txBox="1"/>
          <p:nvPr/>
        </p:nvSpPr>
        <p:spPr>
          <a:xfrm>
            <a:off x="722376" y="2907792"/>
            <a:ext cx="3069641" cy="237744"/>
          </a:xfrm>
          <a:prstGeom prst="rect">
            <a:avLst/>
          </a:prstGeom>
          <a:noFill/>
          <a:ln/>
        </p:spPr>
        <p:txBody>
          <a:bodyPr wrap="square" lIns="0" tIns="0" rIns="0" bIns="0" rtlCol="0" anchor="ctr"/>
          <a:lstStyle/>
          <a:p>
            <a:pPr indent="0" marL="0">
              <a:buNone/>
            </a:pPr>
            <a:r>
              <a:rPr lang="en-US" sz="1250" b="1" dirty="0">
                <a:solidFill>
                  <a:srgbClr val="C7D2FE"/>
                </a:solidFill>
                <a:latin typeface="Calibri" pitchFamily="34" charset="0"/>
                <a:ea typeface="Calibri" pitchFamily="34" charset="-122"/>
                <a:cs typeface="Calibri" pitchFamily="34" charset="-120"/>
              </a:rPr>
              <a:t>관리 DB — MariaDB</a:t>
            </a:r>
            <a:endParaRPr lang="en-US" sz="1250" dirty="0"/>
          </a:p>
        </p:txBody>
      </p:sp>
      <p:sp>
        <p:nvSpPr>
          <p:cNvPr id="39" name="Text 37"/>
          <p:cNvSpPr txBox="1"/>
          <p:nvPr/>
        </p:nvSpPr>
        <p:spPr>
          <a:xfrm>
            <a:off x="722376" y="3182112"/>
            <a:ext cx="3069641" cy="429768"/>
          </a:xfrm>
          <a:prstGeom prst="rect">
            <a:avLst/>
          </a:prstGeom>
          <a:noFill/>
          <a:ln/>
        </p:spPr>
        <p:txBody>
          <a:bodyPr wrap="square" lIns="0" tIns="0" rIns="0" bIns="0" rtlCol="0" anchor="t"/>
          <a:lstStyle/>
          <a:p>
            <a:pPr indent="0" marL="0">
              <a:lnSpc>
                <a:spcPct val="120000"/>
              </a:lnSpc>
              <a:buNone/>
            </a:pPr>
            <a:r>
              <a:rPr lang="en-US" sz="950" dirty="0">
                <a:solidFill>
                  <a:srgbClr val="A3ADD6"/>
                </a:solidFill>
                <a:latin typeface="Calibri" pitchFamily="34" charset="0"/>
                <a:ea typeface="Calibri" pitchFamily="34" charset="-122"/>
                <a:cs typeface="Calibri" pitchFamily="34" charset="-120"/>
              </a:rPr>
              <a:t>knowledge · qa_method · query_registry · target_db · chat_log + 네이티브 VECTOR(1024) vec_store</a:t>
            </a:r>
            <a:endParaRPr lang="en-US" sz="950" dirty="0"/>
          </a:p>
        </p:txBody>
      </p:sp>
      <p:sp>
        <p:nvSpPr>
          <p:cNvPr id="40" name="Shape 38"/>
          <p:cNvSpPr/>
          <p:nvPr/>
        </p:nvSpPr>
        <p:spPr>
          <a:xfrm>
            <a:off x="4294937" y="2807208"/>
            <a:ext cx="3508553" cy="914400"/>
          </a:xfrm>
          <a:prstGeom prst="roundRect">
            <a:avLst>
              <a:gd name="adj" fmla="val 10000"/>
            </a:avLst>
          </a:prstGeom>
          <a:solidFill>
            <a:srgbClr val="252A5E"/>
          </a:solidFill>
          <a:ln w="9525">
            <a:solidFill>
              <a:srgbClr val="3A3F80"/>
            </a:solidFill>
            <a:prstDash val="solid"/>
          </a:ln>
        </p:spPr>
      </p:sp>
      <p:sp>
        <p:nvSpPr>
          <p:cNvPr id="41" name="Text 39"/>
          <p:cNvSpPr txBox="1"/>
          <p:nvPr/>
        </p:nvSpPr>
        <p:spPr>
          <a:xfrm>
            <a:off x="4514393" y="2907792"/>
            <a:ext cx="3069641" cy="237744"/>
          </a:xfrm>
          <a:prstGeom prst="rect">
            <a:avLst/>
          </a:prstGeom>
          <a:noFill/>
          <a:ln/>
        </p:spPr>
        <p:txBody>
          <a:bodyPr wrap="square" lIns="0" tIns="0" rIns="0" bIns="0" rtlCol="0" anchor="ctr"/>
          <a:lstStyle/>
          <a:p>
            <a:pPr indent="0" marL="0">
              <a:buNone/>
            </a:pPr>
            <a:r>
              <a:rPr lang="en-US" sz="1250" b="1" dirty="0">
                <a:solidFill>
                  <a:srgbClr val="C7D2FE"/>
                </a:solidFill>
                <a:latin typeface="Calibri" pitchFamily="34" charset="0"/>
                <a:ea typeface="Calibri" pitchFamily="34" charset="-122"/>
                <a:cs typeface="Calibri" pitchFamily="34" charset="-120"/>
              </a:rPr>
              <a:t>조회 대상 DB — Oracle</a:t>
            </a:r>
            <a:endParaRPr lang="en-US" sz="1250" dirty="0"/>
          </a:p>
        </p:txBody>
      </p:sp>
      <p:sp>
        <p:nvSpPr>
          <p:cNvPr id="42" name="Text 40"/>
          <p:cNvSpPr txBox="1"/>
          <p:nvPr/>
        </p:nvSpPr>
        <p:spPr>
          <a:xfrm>
            <a:off x="4514393" y="3182112"/>
            <a:ext cx="3069641" cy="429768"/>
          </a:xfrm>
          <a:prstGeom prst="rect">
            <a:avLst/>
          </a:prstGeom>
          <a:noFill/>
          <a:ln/>
        </p:spPr>
        <p:txBody>
          <a:bodyPr wrap="square" lIns="0" tIns="0" rIns="0" bIns="0" rtlCol="0" anchor="t"/>
          <a:lstStyle/>
          <a:p>
            <a:pPr indent="0" marL="0">
              <a:lnSpc>
                <a:spcPct val="120000"/>
              </a:lnSpc>
              <a:buNone/>
            </a:pPr>
            <a:r>
              <a:rPr lang="en-US" sz="950" dirty="0">
                <a:solidFill>
                  <a:srgbClr val="A3ADD6"/>
                </a:solidFill>
                <a:latin typeface="Calibri" pitchFamily="34" charset="0"/>
                <a:ea typeface="Calibri" pitchFamily="34" charset="-122"/>
                <a:cs typeface="Calibri" pitchFamily="34" charset="-120"/>
              </a:rPr>
              <a:t>target_db에 등록해 여러 개 운용 · 읽기 전용 계정 · maxRows 100 · 타임아웃 30초</a:t>
            </a:r>
            <a:endParaRPr lang="en-US" sz="950" dirty="0"/>
          </a:p>
        </p:txBody>
      </p:sp>
      <p:sp>
        <p:nvSpPr>
          <p:cNvPr id="43" name="Shape 41"/>
          <p:cNvSpPr/>
          <p:nvPr/>
        </p:nvSpPr>
        <p:spPr>
          <a:xfrm>
            <a:off x="8086954" y="2807208"/>
            <a:ext cx="3508553" cy="914400"/>
          </a:xfrm>
          <a:prstGeom prst="roundRect">
            <a:avLst>
              <a:gd name="adj" fmla="val 10000"/>
            </a:avLst>
          </a:prstGeom>
          <a:solidFill>
            <a:srgbClr val="252A5E"/>
          </a:solidFill>
          <a:ln w="9525">
            <a:solidFill>
              <a:srgbClr val="3A3F80"/>
            </a:solidFill>
            <a:prstDash val="solid"/>
          </a:ln>
        </p:spPr>
      </p:sp>
      <p:sp>
        <p:nvSpPr>
          <p:cNvPr id="44" name="Text 42"/>
          <p:cNvSpPr txBox="1"/>
          <p:nvPr/>
        </p:nvSpPr>
        <p:spPr>
          <a:xfrm>
            <a:off x="8306410" y="2907792"/>
            <a:ext cx="3069641" cy="237744"/>
          </a:xfrm>
          <a:prstGeom prst="rect">
            <a:avLst/>
          </a:prstGeom>
          <a:noFill/>
          <a:ln/>
        </p:spPr>
        <p:txBody>
          <a:bodyPr wrap="square" lIns="0" tIns="0" rIns="0" bIns="0" rtlCol="0" anchor="ctr"/>
          <a:lstStyle/>
          <a:p>
            <a:pPr indent="0" marL="0">
              <a:buNone/>
            </a:pPr>
            <a:r>
              <a:rPr lang="en-US" sz="1250" b="1" dirty="0">
                <a:solidFill>
                  <a:srgbClr val="C7D2FE"/>
                </a:solidFill>
                <a:latin typeface="Calibri" pitchFamily="34" charset="0"/>
                <a:ea typeface="Calibri" pitchFamily="34" charset="-122"/>
                <a:cs typeface="Calibri" pitchFamily="34" charset="-120"/>
              </a:rPr>
              <a:t>LLM · 임베딩</a:t>
            </a:r>
            <a:endParaRPr lang="en-US" sz="1250" dirty="0"/>
          </a:p>
        </p:txBody>
      </p:sp>
      <p:sp>
        <p:nvSpPr>
          <p:cNvPr id="45" name="Text 43"/>
          <p:cNvSpPr txBox="1"/>
          <p:nvPr/>
        </p:nvSpPr>
        <p:spPr>
          <a:xfrm>
            <a:off x="8306410" y="3182112"/>
            <a:ext cx="3069641" cy="429768"/>
          </a:xfrm>
          <a:prstGeom prst="rect">
            <a:avLst/>
          </a:prstGeom>
          <a:noFill/>
          <a:ln/>
        </p:spPr>
        <p:txBody>
          <a:bodyPr wrap="square" lIns="0" tIns="0" rIns="0" bIns="0" rtlCol="0" anchor="t"/>
          <a:lstStyle/>
          <a:p>
            <a:pPr indent="0" marL="0">
              <a:lnSpc>
                <a:spcPct val="120000"/>
              </a:lnSpc>
              <a:buNone/>
            </a:pPr>
            <a:r>
              <a:rPr lang="en-US" sz="950" dirty="0">
                <a:solidFill>
                  <a:srgbClr val="A3ADD6"/>
                </a:solidFill>
                <a:latin typeface="Calibri" pitchFamily="34" charset="0"/>
                <a:ea typeface="Calibri" pitchFamily="34" charset="-122"/>
                <a:cs typeface="Calibri" pitchFamily="34" charset="-120"/>
              </a:rPr>
              <a:t>OpenAI 호환(vLLM · OpenRouter) + Mock 내장 · Ollama bge-m3 · 60초 diff 동기화</a:t>
            </a:r>
            <a:endParaRPr lang="en-US" sz="950" dirty="0"/>
          </a:p>
        </p:txBody>
      </p:sp>
      <p:sp>
        <p:nvSpPr>
          <p:cNvPr id="46" name="Shape 44"/>
          <p:cNvSpPr/>
          <p:nvPr/>
        </p:nvSpPr>
        <p:spPr>
          <a:xfrm>
            <a:off x="502920" y="3886200"/>
            <a:ext cx="91440" cy="91440"/>
          </a:xfrm>
          <a:prstGeom prst="ellipse">
            <a:avLst/>
          </a:prstGeom>
          <a:solidFill>
            <a:srgbClr val="8B7CF6"/>
          </a:solidFill>
          <a:ln/>
        </p:spPr>
      </p:sp>
      <p:sp>
        <p:nvSpPr>
          <p:cNvPr id="47" name="Text 45"/>
          <p:cNvSpPr txBox="1"/>
          <p:nvPr/>
        </p:nvSpPr>
        <p:spPr>
          <a:xfrm>
            <a:off x="685800" y="3822192"/>
            <a:ext cx="7315200" cy="219456"/>
          </a:xfrm>
          <a:prstGeom prst="rect">
            <a:avLst/>
          </a:prstGeom>
          <a:noFill/>
          <a:ln/>
        </p:spPr>
        <p:txBody>
          <a:bodyPr wrap="square" lIns="0" tIns="0" rIns="0" bIns="0" rtlCol="0" anchor="ctr"/>
          <a:lstStyle/>
          <a:p>
            <a:pPr indent="0" marL="0">
              <a:buNone/>
            </a:pPr>
            <a:r>
              <a:rPr lang="en-US" sz="1100" b="1" spc="150" kern="0" dirty="0">
                <a:solidFill>
                  <a:srgbClr val="8B7CF6"/>
                </a:solidFill>
                <a:latin typeface="Calibri" pitchFamily="34" charset="0"/>
                <a:ea typeface="Calibri" pitchFamily="34" charset="-122"/>
                <a:cs typeface="Calibri" pitchFamily="34" charset="-120"/>
              </a:rPr>
              <a:t>장점  ·  단단하게, 효율적으로, 갈아 끼울 수 있게</a:t>
            </a:r>
            <a:endParaRPr lang="en-US" sz="1100" dirty="0"/>
          </a:p>
        </p:txBody>
      </p:sp>
      <p:sp>
        <p:nvSpPr>
          <p:cNvPr id="48" name="Text 46"/>
          <p:cNvSpPr txBox="1"/>
          <p:nvPr/>
        </p:nvSpPr>
        <p:spPr>
          <a:xfrm>
            <a:off x="502920" y="4050792"/>
            <a:ext cx="2560320" cy="384048"/>
          </a:xfrm>
          <a:prstGeom prst="rect">
            <a:avLst/>
          </a:prstGeom>
          <a:noFill/>
          <a:ln/>
        </p:spPr>
        <p:txBody>
          <a:bodyPr wrap="square" lIns="0" tIns="0" rIns="0" bIns="0" rtlCol="0" anchor="ctr"/>
          <a:lstStyle/>
          <a:p>
            <a:pPr indent="0" marL="0">
              <a:buNone/>
            </a:pPr>
            <a:r>
              <a:rPr lang="en-US" sz="2700" b="1" dirty="0">
                <a:solidFill>
                  <a:srgbClr val="C7D2FE"/>
                </a:solidFill>
                <a:latin typeface="Calibri" pitchFamily="34" charset="0"/>
                <a:ea typeface="Calibri" pitchFamily="34" charset="-122"/>
                <a:cs typeface="Calibri" pitchFamily="34" charset="-120"/>
              </a:rPr>
              <a:t>122</a:t>
            </a:r>
            <a:endParaRPr lang="en-US" sz="2700" dirty="0"/>
          </a:p>
        </p:txBody>
      </p:sp>
      <p:sp>
        <p:nvSpPr>
          <p:cNvPr id="49" name="Text 47"/>
          <p:cNvSpPr txBox="1"/>
          <p:nvPr/>
        </p:nvSpPr>
        <p:spPr>
          <a:xfrm>
            <a:off x="502920" y="4443984"/>
            <a:ext cx="2560320" cy="274320"/>
          </a:xfrm>
          <a:prstGeom prst="rect">
            <a:avLst/>
          </a:prstGeom>
          <a:noFill/>
          <a:ln/>
        </p:spPr>
        <p:txBody>
          <a:bodyPr wrap="square" lIns="0" tIns="0" rIns="0" bIns="0" rtlCol="0" anchor="t"/>
          <a:lstStyle/>
          <a:p>
            <a:pPr indent="0" marL="0">
              <a:lnSpc>
                <a:spcPct val="115000"/>
              </a:lnSpc>
              <a:buNone/>
            </a:pPr>
            <a:r>
              <a:rPr lang="en-US" sz="950" dirty="0">
                <a:solidFill>
                  <a:srgbClr val="A3ADD6"/>
                </a:solidFill>
                <a:latin typeface="Calibri" pitchFamily="34" charset="0"/>
                <a:ea typeface="Calibri" pitchFamily="34" charset="-122"/>
                <a:cs typeface="Calibri" pitchFamily="34" charset="-120"/>
              </a:rPr>
              <a:t>회귀 테스트 전부 통과 (0.6초)</a:t>
            </a:r>
            <a:endParaRPr lang="en-US" sz="950" dirty="0"/>
          </a:p>
        </p:txBody>
      </p:sp>
      <p:sp>
        <p:nvSpPr>
          <p:cNvPr id="50" name="Text 48"/>
          <p:cNvSpPr txBox="1"/>
          <p:nvPr/>
        </p:nvSpPr>
        <p:spPr>
          <a:xfrm>
            <a:off x="3346704" y="4050792"/>
            <a:ext cx="2560320" cy="384048"/>
          </a:xfrm>
          <a:prstGeom prst="rect">
            <a:avLst/>
          </a:prstGeom>
          <a:noFill/>
          <a:ln/>
        </p:spPr>
        <p:txBody>
          <a:bodyPr wrap="square" lIns="0" tIns="0" rIns="0" bIns="0" rtlCol="0" anchor="ctr"/>
          <a:lstStyle/>
          <a:p>
            <a:pPr indent="0" marL="0">
              <a:buNone/>
            </a:pPr>
            <a:r>
              <a:rPr lang="en-US" sz="2700" b="1" dirty="0">
                <a:solidFill>
                  <a:srgbClr val="C7D2FE"/>
                </a:solidFill>
                <a:latin typeface="Calibri" pitchFamily="34" charset="0"/>
                <a:ea typeface="Calibri" pitchFamily="34" charset="-122"/>
                <a:cs typeface="Calibri" pitchFamily="34" charset="-120"/>
              </a:rPr>
              <a:t>~20ms</a:t>
            </a:r>
            <a:endParaRPr lang="en-US" sz="2700" dirty="0"/>
          </a:p>
        </p:txBody>
      </p:sp>
      <p:sp>
        <p:nvSpPr>
          <p:cNvPr id="51" name="Text 49"/>
          <p:cNvSpPr txBox="1"/>
          <p:nvPr/>
        </p:nvSpPr>
        <p:spPr>
          <a:xfrm>
            <a:off x="3346704" y="4443984"/>
            <a:ext cx="2560320" cy="274320"/>
          </a:xfrm>
          <a:prstGeom prst="rect">
            <a:avLst/>
          </a:prstGeom>
          <a:noFill/>
          <a:ln/>
        </p:spPr>
        <p:txBody>
          <a:bodyPr wrap="square" lIns="0" tIns="0" rIns="0" bIns="0" rtlCol="0" anchor="t"/>
          <a:lstStyle/>
          <a:p>
            <a:pPr indent="0" marL="0">
              <a:lnSpc>
                <a:spcPct val="115000"/>
              </a:lnSpc>
              <a:buNone/>
            </a:pPr>
            <a:r>
              <a:rPr lang="en-US" sz="950" dirty="0">
                <a:solidFill>
                  <a:srgbClr val="A3ADD6"/>
                </a:solidFill>
                <a:latin typeface="Calibri" pitchFamily="34" charset="0"/>
                <a:ea typeface="Calibri" pitchFamily="34" charset="-122"/>
                <a:cs typeface="Calibri" pitchFamily="34" charset="-120"/>
              </a:rPr>
              <a:t>10,000건에서 벡터 검색 (MHNSW)</a:t>
            </a:r>
            <a:endParaRPr lang="en-US" sz="950" dirty="0"/>
          </a:p>
        </p:txBody>
      </p:sp>
      <p:sp>
        <p:nvSpPr>
          <p:cNvPr id="52" name="Text 50"/>
          <p:cNvSpPr txBox="1"/>
          <p:nvPr/>
        </p:nvSpPr>
        <p:spPr>
          <a:xfrm>
            <a:off x="6190488" y="4050792"/>
            <a:ext cx="2560320" cy="384048"/>
          </a:xfrm>
          <a:prstGeom prst="rect">
            <a:avLst/>
          </a:prstGeom>
          <a:noFill/>
          <a:ln/>
        </p:spPr>
        <p:txBody>
          <a:bodyPr wrap="square" lIns="0" tIns="0" rIns="0" bIns="0" rtlCol="0" anchor="ctr"/>
          <a:lstStyle/>
          <a:p>
            <a:pPr indent="0" marL="0">
              <a:buNone/>
            </a:pPr>
            <a:r>
              <a:rPr lang="en-US" sz="2700" b="1" dirty="0">
                <a:solidFill>
                  <a:srgbClr val="C7D2FE"/>
                </a:solidFill>
                <a:latin typeface="Calibri" pitchFamily="34" charset="0"/>
                <a:ea typeface="Calibri" pitchFamily="34" charset="-122"/>
                <a:cs typeface="Calibri" pitchFamily="34" charset="-120"/>
              </a:rPr>
              <a:t>0줄</a:t>
            </a:r>
            <a:endParaRPr lang="en-US" sz="2700" dirty="0"/>
          </a:p>
        </p:txBody>
      </p:sp>
      <p:sp>
        <p:nvSpPr>
          <p:cNvPr id="53" name="Text 51"/>
          <p:cNvSpPr txBox="1"/>
          <p:nvPr/>
        </p:nvSpPr>
        <p:spPr>
          <a:xfrm>
            <a:off x="6190488" y="4443984"/>
            <a:ext cx="2560320" cy="274320"/>
          </a:xfrm>
          <a:prstGeom prst="rect">
            <a:avLst/>
          </a:prstGeom>
          <a:noFill/>
          <a:ln/>
        </p:spPr>
        <p:txBody>
          <a:bodyPr wrap="square" lIns="0" tIns="0" rIns="0" bIns="0" rtlCol="0" anchor="t"/>
          <a:lstStyle/>
          <a:p>
            <a:pPr indent="0" marL="0">
              <a:lnSpc>
                <a:spcPct val="115000"/>
              </a:lnSpc>
              <a:buNone/>
            </a:pPr>
            <a:r>
              <a:rPr lang="en-US" sz="950" dirty="0">
                <a:solidFill>
                  <a:srgbClr val="A3ADD6"/>
                </a:solidFill>
                <a:latin typeface="Calibri" pitchFamily="34" charset="0"/>
                <a:ea typeface="Calibri" pitchFamily="34" charset="-122"/>
                <a:cs typeface="Calibri" pitchFamily="34" charset="-120"/>
              </a:rPr>
              <a:t>쿼리·지식·조회 DB를 늘릴 때 바뀌는 코드</a:t>
            </a:r>
            <a:endParaRPr lang="en-US" sz="950" dirty="0"/>
          </a:p>
        </p:txBody>
      </p:sp>
      <p:sp>
        <p:nvSpPr>
          <p:cNvPr id="54" name="Text 52"/>
          <p:cNvSpPr txBox="1"/>
          <p:nvPr/>
        </p:nvSpPr>
        <p:spPr>
          <a:xfrm>
            <a:off x="9034272" y="4050792"/>
            <a:ext cx="2560320" cy="384048"/>
          </a:xfrm>
          <a:prstGeom prst="rect">
            <a:avLst/>
          </a:prstGeom>
          <a:noFill/>
          <a:ln/>
        </p:spPr>
        <p:txBody>
          <a:bodyPr wrap="square" lIns="0" tIns="0" rIns="0" bIns="0" rtlCol="0" anchor="ctr"/>
          <a:lstStyle/>
          <a:p>
            <a:pPr indent="0" marL="0">
              <a:buNone/>
            </a:pPr>
            <a:r>
              <a:rPr lang="en-US" sz="2700" b="1" dirty="0">
                <a:solidFill>
                  <a:srgbClr val="C7D2FE"/>
                </a:solidFill>
                <a:latin typeface="Calibri" pitchFamily="34" charset="0"/>
                <a:ea typeface="Calibri" pitchFamily="34" charset="-122"/>
                <a:cs typeface="Calibri" pitchFamily="34" charset="-120"/>
              </a:rPr>
              <a:t>3겹</a:t>
            </a:r>
            <a:endParaRPr lang="en-US" sz="2700" dirty="0"/>
          </a:p>
        </p:txBody>
      </p:sp>
      <p:sp>
        <p:nvSpPr>
          <p:cNvPr id="55" name="Text 53"/>
          <p:cNvSpPr txBox="1"/>
          <p:nvPr/>
        </p:nvSpPr>
        <p:spPr>
          <a:xfrm>
            <a:off x="9034272" y="4443984"/>
            <a:ext cx="2560320" cy="274320"/>
          </a:xfrm>
          <a:prstGeom prst="rect">
            <a:avLst/>
          </a:prstGeom>
          <a:noFill/>
          <a:ln/>
        </p:spPr>
        <p:txBody>
          <a:bodyPr wrap="square" lIns="0" tIns="0" rIns="0" bIns="0" rtlCol="0" anchor="t"/>
          <a:lstStyle/>
          <a:p>
            <a:pPr indent="0" marL="0">
              <a:lnSpc>
                <a:spcPct val="115000"/>
              </a:lnSpc>
              <a:buNone/>
            </a:pPr>
            <a:r>
              <a:rPr lang="en-US" sz="950" dirty="0">
                <a:solidFill>
                  <a:srgbClr val="A3ADD6"/>
                </a:solidFill>
                <a:latin typeface="Calibri" pitchFamily="34" charset="0"/>
                <a:ea typeface="Calibri" pitchFamily="34" charset="-122"/>
                <a:cs typeface="Calibri" pitchFamily="34" charset="-120"/>
              </a:rPr>
              <a:t>조회 방어 — 이름 선택·가드·계정</a:t>
            </a:r>
            <a:endParaRPr lang="en-US" sz="950" dirty="0"/>
          </a:p>
        </p:txBody>
      </p:sp>
      <p:sp>
        <p:nvSpPr>
          <p:cNvPr id="56" name="Shape 54"/>
          <p:cNvSpPr/>
          <p:nvPr/>
        </p:nvSpPr>
        <p:spPr>
          <a:xfrm>
            <a:off x="502920" y="4882896"/>
            <a:ext cx="3508553" cy="1188720"/>
          </a:xfrm>
          <a:prstGeom prst="roundRect">
            <a:avLst>
              <a:gd name="adj" fmla="val 7692"/>
            </a:avLst>
          </a:prstGeom>
          <a:solidFill>
            <a:srgbClr val="1E2148"/>
          </a:solidFill>
          <a:ln w="9525">
            <a:solidFill>
              <a:srgbClr val="343A76"/>
            </a:solidFill>
            <a:prstDash val="solid"/>
          </a:ln>
        </p:spPr>
      </p:sp>
      <p:sp>
        <p:nvSpPr>
          <p:cNvPr id="57" name="Shape 55"/>
          <p:cNvSpPr/>
          <p:nvPr/>
        </p:nvSpPr>
        <p:spPr>
          <a:xfrm>
            <a:off x="704088" y="5020056"/>
            <a:ext cx="256032" cy="256032"/>
          </a:xfrm>
          <a:prstGeom prst="ellipse">
            <a:avLst/>
          </a:prstGeom>
          <a:solidFill>
            <a:srgbClr val="8B7CF6"/>
          </a:solidFill>
          <a:ln/>
        </p:spPr>
      </p:sp>
      <p:sp>
        <p:nvSpPr>
          <p:cNvPr id="58" name="Text 56"/>
          <p:cNvSpPr txBox="1"/>
          <p:nvPr/>
        </p:nvSpPr>
        <p:spPr>
          <a:xfrm>
            <a:off x="704088" y="5020056"/>
            <a:ext cx="256032" cy="256032"/>
          </a:xfrm>
          <a:prstGeom prst="rect">
            <a:avLst/>
          </a:prstGeom>
          <a:noFill/>
          <a:ln/>
        </p:spPr>
        <p:txBody>
          <a:bodyPr wrap="square" lIns="0" tIns="0" rIns="0" bIns="0" rtlCol="0" anchor="ctr"/>
          <a:lstStyle/>
          <a:p>
            <a:pPr algn="ctr" indent="0" marL="0">
              <a:buNone/>
            </a:pPr>
            <a:r>
              <a:rPr lang="en-US" sz="1100" b="1" dirty="0">
                <a:solidFill>
                  <a:srgbClr val="16183A"/>
                </a:solidFill>
                <a:latin typeface="Calibri" pitchFamily="34" charset="0"/>
                <a:ea typeface="Calibri" pitchFamily="34" charset="-122"/>
                <a:cs typeface="Calibri" pitchFamily="34" charset="-120"/>
              </a:rPr>
              <a:t>◆</a:t>
            </a:r>
            <a:endParaRPr lang="en-US" sz="1100" dirty="0"/>
          </a:p>
        </p:txBody>
      </p:sp>
      <p:sp>
        <p:nvSpPr>
          <p:cNvPr id="59" name="Text 57"/>
          <p:cNvSpPr txBox="1"/>
          <p:nvPr/>
        </p:nvSpPr>
        <p:spPr>
          <a:xfrm>
            <a:off x="1014984" y="5020056"/>
            <a:ext cx="2795321"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단단함</a:t>
            </a:r>
            <a:pPr indent="0" marL="0">
              <a:buNone/>
            </a:pPr>
            <a:r>
              <a:rPr lang="en-US" sz="950" dirty="0">
                <a:solidFill>
                  <a:srgbClr val="A3ADD6"/>
                </a:solidFill>
                <a:latin typeface="Calibri" pitchFamily="34" charset="0"/>
                <a:ea typeface="Calibri" pitchFamily="34" charset="-122"/>
                <a:cs typeface="Calibri" pitchFamily="34" charset="-120"/>
              </a:rPr>
              <a:t>  조용히 무너지지 않는다</a:t>
            </a:r>
            <a:endParaRPr lang="en-US" sz="1250" dirty="0"/>
          </a:p>
        </p:txBody>
      </p:sp>
      <p:sp>
        <p:nvSpPr>
          <p:cNvPr id="60" name="Text 58"/>
          <p:cNvSpPr txBox="1"/>
          <p:nvPr/>
        </p:nvSpPr>
        <p:spPr>
          <a:xfrm>
            <a:off x="1014984" y="5340096"/>
            <a:ext cx="2795321" cy="621792"/>
          </a:xfrm>
          <a:prstGeom prst="rect">
            <a:avLst/>
          </a:prstGeom>
          <a:noFill/>
          <a:ln/>
        </p:spPr>
        <p:txBody>
          <a:bodyPr wrap="square" lIns="0" tIns="0" rIns="0" bIns="0" rtlCol="0" anchor="t"/>
          <a:lstStyle/>
          <a:p>
            <a:pPr marL="165100" indent="-165100">
              <a:spcAft>
                <a:spcPts val="300"/>
              </a:spcAft>
              <a:buSzPct val="100000"/>
              <a:buChar char="•"/>
            </a:pPr>
            <a:r>
              <a:rPr lang="en-US" sz="950" dirty="0">
                <a:solidFill>
                  <a:srgbClr val="A3ADD6"/>
                </a:solidFill>
                <a:latin typeface="Calibri" pitchFamily="34" charset="0"/>
                <a:ea typeface="Calibri" pitchFamily="34" charset="-122"/>
                <a:cs typeface="Calibri" pitchFamily="34" charset="-120"/>
              </a:rPr>
              <a:t>LLM은 SQL을 못 쓴다 — 이름만 선택</a:t>
            </a:r>
            <a:endParaRPr lang="en-US" sz="950" dirty="0"/>
          </a:p>
          <a:p>
            <a:pPr marL="165100" indent="-165100">
              <a:spcAft>
                <a:spcPts val="300"/>
              </a:spcAft>
              <a:buSzPct val="100000"/>
              <a:buChar char="•"/>
            </a:pPr>
            <a:r>
              <a:rPr lang="en-US" sz="950" dirty="0">
                <a:solidFill>
                  <a:srgbClr val="A3ADD6"/>
                </a:solidFill>
                <a:latin typeface="Calibri" pitchFamily="34" charset="0"/>
                <a:ea typeface="Calibri" pitchFamily="34" charset="-122"/>
                <a:cs typeface="Calibri" pitchFamily="34" charset="-120"/>
              </a:rPr>
              <a:t>SELECT 전용 가드 + 읽기 전용 계정</a:t>
            </a:r>
            <a:endParaRPr lang="en-US" sz="950" dirty="0"/>
          </a:p>
          <a:p>
            <a:pPr marL="165100" indent="-165100">
              <a:spcAft>
                <a:spcPts val="300"/>
              </a:spcAft>
              <a:buSzPct val="100000"/>
              <a:buChar char="•"/>
            </a:pPr>
            <a:r>
              <a:rPr lang="en-US" sz="950" dirty="0">
                <a:solidFill>
                  <a:srgbClr val="A3ADD6"/>
                </a:solidFill>
                <a:latin typeface="Calibri" pitchFamily="34" charset="0"/>
                <a:ea typeface="Calibri" pitchFamily="34" charset="-122"/>
                <a:cs typeface="Calibri" pitchFamily="34" charset="-120"/>
              </a:rPr>
              <a:t>모든 I/O에 예산 — 30·120·180초</a:t>
            </a:r>
            <a:endParaRPr lang="en-US" sz="950" dirty="0"/>
          </a:p>
        </p:txBody>
      </p:sp>
      <p:sp>
        <p:nvSpPr>
          <p:cNvPr id="61" name="Shape 59"/>
          <p:cNvSpPr/>
          <p:nvPr/>
        </p:nvSpPr>
        <p:spPr>
          <a:xfrm>
            <a:off x="4294937" y="4882896"/>
            <a:ext cx="3508553" cy="1188720"/>
          </a:xfrm>
          <a:prstGeom prst="roundRect">
            <a:avLst>
              <a:gd name="adj" fmla="val 7692"/>
            </a:avLst>
          </a:prstGeom>
          <a:solidFill>
            <a:srgbClr val="1E2148"/>
          </a:solidFill>
          <a:ln w="9525">
            <a:solidFill>
              <a:srgbClr val="343A76"/>
            </a:solidFill>
            <a:prstDash val="solid"/>
          </a:ln>
        </p:spPr>
      </p:sp>
      <p:sp>
        <p:nvSpPr>
          <p:cNvPr id="62" name="Shape 60"/>
          <p:cNvSpPr/>
          <p:nvPr/>
        </p:nvSpPr>
        <p:spPr>
          <a:xfrm>
            <a:off x="4496105" y="5020056"/>
            <a:ext cx="256032" cy="256032"/>
          </a:xfrm>
          <a:prstGeom prst="ellipse">
            <a:avLst/>
          </a:prstGeom>
          <a:solidFill>
            <a:srgbClr val="8B7CF6"/>
          </a:solidFill>
          <a:ln/>
        </p:spPr>
      </p:sp>
      <p:sp>
        <p:nvSpPr>
          <p:cNvPr id="63" name="Text 61"/>
          <p:cNvSpPr txBox="1"/>
          <p:nvPr/>
        </p:nvSpPr>
        <p:spPr>
          <a:xfrm>
            <a:off x="4496105" y="5020056"/>
            <a:ext cx="256032" cy="256032"/>
          </a:xfrm>
          <a:prstGeom prst="rect">
            <a:avLst/>
          </a:prstGeom>
          <a:noFill/>
          <a:ln/>
        </p:spPr>
        <p:txBody>
          <a:bodyPr wrap="square" lIns="0" tIns="0" rIns="0" bIns="0" rtlCol="0" anchor="ctr"/>
          <a:lstStyle/>
          <a:p>
            <a:pPr algn="ctr" indent="0" marL="0">
              <a:buNone/>
            </a:pPr>
            <a:r>
              <a:rPr lang="en-US" sz="1100" b="1" dirty="0">
                <a:solidFill>
                  <a:srgbClr val="16183A"/>
                </a:solidFill>
                <a:latin typeface="Calibri" pitchFamily="34" charset="0"/>
                <a:ea typeface="Calibri" pitchFamily="34" charset="-122"/>
                <a:cs typeface="Calibri" pitchFamily="34" charset="-120"/>
              </a:rPr>
              <a:t>▲</a:t>
            </a:r>
            <a:endParaRPr lang="en-US" sz="1100" dirty="0"/>
          </a:p>
        </p:txBody>
      </p:sp>
      <p:sp>
        <p:nvSpPr>
          <p:cNvPr id="64" name="Text 62"/>
          <p:cNvSpPr txBox="1"/>
          <p:nvPr/>
        </p:nvSpPr>
        <p:spPr>
          <a:xfrm>
            <a:off x="4807001" y="5020056"/>
            <a:ext cx="2795321"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효율</a:t>
            </a:r>
            <a:pPr indent="0" marL="0">
              <a:buNone/>
            </a:pPr>
            <a:r>
              <a:rPr lang="en-US" sz="950" dirty="0">
                <a:solidFill>
                  <a:srgbClr val="A3ADD6"/>
                </a:solidFill>
                <a:latin typeface="Calibri" pitchFamily="34" charset="0"/>
                <a:ea typeface="Calibri" pitchFamily="34" charset="-122"/>
                <a:cs typeface="Calibri" pitchFamily="34" charset="-120"/>
              </a:rPr>
              <a:t>  커져도 느려지지 않는다</a:t>
            </a:r>
            <a:endParaRPr lang="en-US" sz="1250" dirty="0"/>
          </a:p>
        </p:txBody>
      </p:sp>
      <p:sp>
        <p:nvSpPr>
          <p:cNvPr id="65" name="Text 63"/>
          <p:cNvSpPr txBox="1"/>
          <p:nvPr/>
        </p:nvSpPr>
        <p:spPr>
          <a:xfrm>
            <a:off x="4807001" y="5340096"/>
            <a:ext cx="2795321" cy="621792"/>
          </a:xfrm>
          <a:prstGeom prst="rect">
            <a:avLst/>
          </a:prstGeom>
          <a:noFill/>
          <a:ln/>
        </p:spPr>
        <p:txBody>
          <a:bodyPr wrap="square" lIns="0" tIns="0" rIns="0" bIns="0" rtlCol="0" anchor="t"/>
          <a:lstStyle/>
          <a:p>
            <a:pPr marL="165100" indent="-165100">
              <a:spcAft>
                <a:spcPts val="300"/>
              </a:spcAft>
              <a:buSzPct val="100000"/>
              <a:buChar char="•"/>
            </a:pPr>
            <a:r>
              <a:rPr lang="en-US" sz="950" dirty="0">
                <a:solidFill>
                  <a:srgbClr val="A3ADD6"/>
                </a:solidFill>
                <a:latin typeface="Calibri" pitchFamily="34" charset="0"/>
                <a:ea typeface="Calibri" pitchFamily="34" charset="-122"/>
                <a:cs typeface="Calibri" pitchFamily="34" charset="-120"/>
              </a:rPr>
              <a:t>별도 vector DB 없이 네이티브 VECTOR</a:t>
            </a:r>
            <a:endParaRPr lang="en-US" sz="950" dirty="0"/>
          </a:p>
          <a:p>
            <a:pPr marL="165100" indent="-165100">
              <a:spcAft>
                <a:spcPts val="300"/>
              </a:spcAft>
              <a:buSzPct val="100000"/>
              <a:buChar char="•"/>
            </a:pPr>
            <a:r>
              <a:rPr lang="en-US" sz="950" dirty="0">
                <a:solidFill>
                  <a:srgbClr val="A3ADD6"/>
                </a:solidFill>
                <a:latin typeface="Calibri" pitchFamily="34" charset="0"/>
                <a:ea typeface="Calibri" pitchFamily="34" charset="-122"/>
                <a:cs typeface="Calibri" pitchFamily="34" charset="-120"/>
              </a:rPr>
              <a:t>LIKE·벡터 병렬 → RRF 상위 20건</a:t>
            </a:r>
            <a:endParaRPr lang="en-US" sz="950" dirty="0"/>
          </a:p>
          <a:p>
            <a:pPr marL="165100" indent="-165100">
              <a:spcAft>
                <a:spcPts val="300"/>
              </a:spcAft>
              <a:buSzPct val="100000"/>
              <a:buChar char="•"/>
            </a:pPr>
            <a:r>
              <a:rPr lang="en-US" sz="950" dirty="0">
                <a:solidFill>
                  <a:srgbClr val="A3ADD6"/>
                </a:solidFill>
                <a:latin typeface="Calibri" pitchFamily="34" charset="0"/>
                <a:ea typeface="Calibri" pitchFamily="34" charset="-122"/>
                <a:cs typeface="Calibri" pitchFamily="34" charset="-120"/>
              </a:rPr>
              <a:t>변경분만 임베딩 · 질문 1회 캐시</a:t>
            </a:r>
            <a:endParaRPr lang="en-US" sz="950" dirty="0"/>
          </a:p>
        </p:txBody>
      </p:sp>
      <p:sp>
        <p:nvSpPr>
          <p:cNvPr id="66" name="Shape 64"/>
          <p:cNvSpPr/>
          <p:nvPr/>
        </p:nvSpPr>
        <p:spPr>
          <a:xfrm>
            <a:off x="8086954" y="4882896"/>
            <a:ext cx="3508553" cy="1188720"/>
          </a:xfrm>
          <a:prstGeom prst="roundRect">
            <a:avLst>
              <a:gd name="adj" fmla="val 7692"/>
            </a:avLst>
          </a:prstGeom>
          <a:solidFill>
            <a:srgbClr val="1E2148"/>
          </a:solidFill>
          <a:ln w="9525">
            <a:solidFill>
              <a:srgbClr val="343A76"/>
            </a:solidFill>
            <a:prstDash val="solid"/>
          </a:ln>
        </p:spPr>
      </p:sp>
      <p:sp>
        <p:nvSpPr>
          <p:cNvPr id="67" name="Shape 65"/>
          <p:cNvSpPr/>
          <p:nvPr/>
        </p:nvSpPr>
        <p:spPr>
          <a:xfrm>
            <a:off x="8288122" y="5020056"/>
            <a:ext cx="256032" cy="256032"/>
          </a:xfrm>
          <a:prstGeom prst="ellipse">
            <a:avLst/>
          </a:prstGeom>
          <a:solidFill>
            <a:srgbClr val="8B7CF6"/>
          </a:solidFill>
          <a:ln/>
        </p:spPr>
      </p:sp>
      <p:sp>
        <p:nvSpPr>
          <p:cNvPr id="68" name="Text 66"/>
          <p:cNvSpPr txBox="1"/>
          <p:nvPr/>
        </p:nvSpPr>
        <p:spPr>
          <a:xfrm>
            <a:off x="8288122" y="5020056"/>
            <a:ext cx="256032" cy="256032"/>
          </a:xfrm>
          <a:prstGeom prst="rect">
            <a:avLst/>
          </a:prstGeom>
          <a:noFill/>
          <a:ln/>
        </p:spPr>
        <p:txBody>
          <a:bodyPr wrap="square" lIns="0" tIns="0" rIns="0" bIns="0" rtlCol="0" anchor="ctr"/>
          <a:lstStyle/>
          <a:p>
            <a:pPr algn="ctr" indent="0" marL="0">
              <a:buNone/>
            </a:pPr>
            <a:r>
              <a:rPr lang="en-US" sz="1100" b="1" dirty="0">
                <a:solidFill>
                  <a:srgbClr val="16183A"/>
                </a:solidFill>
                <a:latin typeface="Calibri" pitchFamily="34" charset="0"/>
                <a:ea typeface="Calibri" pitchFamily="34" charset="-122"/>
                <a:cs typeface="Calibri" pitchFamily="34" charset="-120"/>
              </a:rPr>
              <a:t>⇄</a:t>
            </a:r>
            <a:endParaRPr lang="en-US" sz="1100" dirty="0"/>
          </a:p>
        </p:txBody>
      </p:sp>
      <p:sp>
        <p:nvSpPr>
          <p:cNvPr id="69" name="Text 67"/>
          <p:cNvSpPr txBox="1"/>
          <p:nvPr/>
        </p:nvSpPr>
        <p:spPr>
          <a:xfrm>
            <a:off x="8599018" y="5020056"/>
            <a:ext cx="2795321" cy="256032"/>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교체·확장</a:t>
            </a:r>
            <a:pPr indent="0" marL="0">
              <a:buNone/>
            </a:pPr>
            <a:r>
              <a:rPr lang="en-US" sz="950" dirty="0">
                <a:solidFill>
                  <a:srgbClr val="A3ADD6"/>
                </a:solidFill>
                <a:latin typeface="Calibri" pitchFamily="34" charset="0"/>
                <a:ea typeface="Calibri" pitchFamily="34" charset="-122"/>
                <a:cs typeface="Calibri" pitchFamily="34" charset="-120"/>
              </a:rPr>
              <a:t>  모델도 DB도 갈아 끼운다</a:t>
            </a:r>
            <a:endParaRPr lang="en-US" sz="1250" dirty="0"/>
          </a:p>
        </p:txBody>
      </p:sp>
      <p:sp>
        <p:nvSpPr>
          <p:cNvPr id="70" name="Text 68"/>
          <p:cNvSpPr txBox="1"/>
          <p:nvPr/>
        </p:nvSpPr>
        <p:spPr>
          <a:xfrm>
            <a:off x="8599018" y="5340096"/>
            <a:ext cx="2795321" cy="621792"/>
          </a:xfrm>
          <a:prstGeom prst="rect">
            <a:avLst/>
          </a:prstGeom>
          <a:noFill/>
          <a:ln/>
        </p:spPr>
        <p:txBody>
          <a:bodyPr wrap="square" lIns="0" tIns="0" rIns="0" bIns="0" rtlCol="0" anchor="t"/>
          <a:lstStyle/>
          <a:p>
            <a:pPr marL="165100" indent="-165100">
              <a:spcAft>
                <a:spcPts val="300"/>
              </a:spcAft>
              <a:buSzPct val="100000"/>
              <a:buChar char="•"/>
            </a:pPr>
            <a:r>
              <a:rPr lang="en-US" sz="950" dirty="0">
                <a:solidFill>
                  <a:srgbClr val="A3ADD6"/>
                </a:solidFill>
                <a:latin typeface="Calibri" pitchFamily="34" charset="0"/>
                <a:ea typeface="Calibri" pitchFamily="34" charset="-122"/>
                <a:cs typeface="Calibri" pitchFamily="34" charset="-120"/>
              </a:rPr>
              <a:t>LLM 교체는 .env 3줄 — 경계는 decide() 하나</a:t>
            </a:r>
            <a:endParaRPr lang="en-US" sz="950" dirty="0"/>
          </a:p>
          <a:p>
            <a:pPr marL="165100" indent="-165100">
              <a:spcAft>
                <a:spcPts val="300"/>
              </a:spcAft>
              <a:buSzPct val="100000"/>
              <a:buChar char="•"/>
            </a:pPr>
            <a:r>
              <a:rPr lang="en-US" sz="950" dirty="0">
                <a:solidFill>
                  <a:srgbClr val="A3ADD6"/>
                </a:solidFill>
                <a:latin typeface="Calibri" pitchFamily="34" charset="0"/>
                <a:ea typeface="Calibri" pitchFamily="34" charset="-122"/>
                <a:cs typeface="Calibri" pitchFamily="34" charset="-120"/>
              </a:rPr>
              <a:t>임베딩 모델 교체 → 자동 전체 재임베딩</a:t>
            </a:r>
            <a:endParaRPr lang="en-US" sz="950" dirty="0"/>
          </a:p>
          <a:p>
            <a:pPr marL="165100" indent="-165100">
              <a:spcAft>
                <a:spcPts val="300"/>
              </a:spcAft>
              <a:buSzPct val="100000"/>
              <a:buChar char="•"/>
            </a:pPr>
            <a:r>
              <a:rPr lang="en-US" sz="950" dirty="0">
                <a:solidFill>
                  <a:srgbClr val="A3ADD6"/>
                </a:solidFill>
                <a:latin typeface="Calibri" pitchFamily="34" charset="0"/>
                <a:ea typeface="Calibri" pitchFamily="34" charset="-122"/>
                <a:cs typeface="Calibri" pitchFamily="34" charset="-120"/>
              </a:rPr>
              <a:t>조회 DB는 target_db에 INSERT로 추가</a:t>
            </a:r>
            <a:endParaRPr lang="en-US" sz="950" dirty="0"/>
          </a:p>
        </p:txBody>
      </p:sp>
      <p:sp>
        <p:nvSpPr>
          <p:cNvPr id="71" name="Text 69"/>
          <p:cNvSpPr txBox="1"/>
          <p:nvPr/>
        </p:nvSpPr>
        <p:spPr>
          <a:xfrm>
            <a:off x="502920" y="6254496"/>
            <a:ext cx="11091672" cy="219456"/>
          </a:xfrm>
          <a:prstGeom prst="rect">
            <a:avLst/>
          </a:prstGeom>
          <a:noFill/>
          <a:ln/>
        </p:spPr>
        <p:txBody>
          <a:bodyPr wrap="square" lIns="0" tIns="0" rIns="0" bIns="0" rtlCol="0" anchor="ctr"/>
          <a:lstStyle/>
          <a:p>
            <a:pPr indent="0" marL="0">
              <a:buNone/>
            </a:pPr>
            <a:r>
              <a:rPr lang="en-US" sz="900" dirty="0">
                <a:solidFill>
                  <a:srgbClr val="6E77A8"/>
                </a:solidFill>
                <a:latin typeface="Calibri" pitchFamily="34" charset="0"/>
                <a:ea typeface="Calibri" pitchFamily="34" charset="-122"/>
                <a:cs typeface="Calibri" pitchFamily="34" charset="-120"/>
              </a:rPr>
              <a:t>핵심 제어 흐름: backend/src/agent.js   ·   검색: search.js   ·   LLM 인터페이스: llm.js   ·   조회 실행·가드: oracle.js / sql.js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SPACE Assistant 아키텍처</dc:title>
  <dc:subject>PptxGenJS Presentation</dc:subject>
  <dc:creator>SPACE Assistant</dc:creator>
  <cp:lastModifiedBy>SPACE Assistant</cp:lastModifiedBy>
  <cp:revision>1</cp:revision>
  <dcterms:created xsi:type="dcterms:W3CDTF">2026-08-30T15:08:25Z</dcterms:created>
  <dcterms:modified xsi:type="dcterms:W3CDTF">2026-08-30T15:08:25Z</dcterms:modified>
</cp:coreProperties>
</file>